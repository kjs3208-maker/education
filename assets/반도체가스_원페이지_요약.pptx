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D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8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반도체 가스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FD3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보이지 않지만 무기가 되다 — 정의부터 제조·분석·공급까지, 한 장으로 보는 전체 흐름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624562" y="1975104"/>
            <a:ext cx="1017988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57634" y="1691640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57634" y="1691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4F8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331720"/>
            <a:ext cx="14934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4F8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원료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209479" y="1975104"/>
            <a:ext cx="1017988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642551" y="1691640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642551" y="1691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4F8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179276" y="2331720"/>
            <a:ext cx="14934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4F8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합성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794395" y="1975104"/>
            <a:ext cx="1017988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27467" y="1691640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227467" y="1691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4F8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3764193" y="2331720"/>
            <a:ext cx="14934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4F8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정제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379312" y="1975104"/>
            <a:ext cx="1017988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812384" y="1691640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812384" y="1691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4F8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349109" y="2331720"/>
            <a:ext cx="14934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4F8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충전/믹싱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964228" y="1975104"/>
            <a:ext cx="1017988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397300" y="1691640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97300" y="1691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4F8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934026" y="2331720"/>
            <a:ext cx="14934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4F8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분석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549145" y="1975104"/>
            <a:ext cx="1017988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982217" y="1691640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982217" y="1691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4F8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8518942" y="2331720"/>
            <a:ext cx="14934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4F8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공급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10567133" y="1691640"/>
            <a:ext cx="566928" cy="566928"/>
          </a:xfrm>
          <a:prstGeom prst="ellipse">
            <a:avLst/>
          </a:prstGeom>
          <a:solidFill>
            <a:srgbClr val="5FD3F3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10567133" y="1691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3D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10103859" y="2331720"/>
            <a:ext cx="14934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4F8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공정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48640" y="3063240"/>
            <a:ext cx="3515258" cy="3246120"/>
          </a:xfrm>
          <a:prstGeom prst="roundRect">
            <a:avLst>
              <a:gd name="adj" fmla="val 2254"/>
            </a:avLst>
          </a:prstGeom>
          <a:solidFill>
            <a:srgbClr val="133E63"/>
          </a:solidFill>
          <a:ln/>
          <a:effectLst>
            <a:outerShdw sx="100000" sy="100000" kx="0" ky="0" algn="bl" rotWithShape="0" blurRad="76200" dist="38100" dir="5400000">
              <a:srgbClr val="000000">
                <a:alpha val="3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804672" y="3319272"/>
            <a:ext cx="384048" cy="384048"/>
          </a:xfrm>
          <a:prstGeom prst="ellipse">
            <a:avLst/>
          </a:prstGeom>
          <a:solidFill>
            <a:srgbClr val="5FD3F3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04672" y="3319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3D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1298448" y="3300984"/>
            <a:ext cx="26008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4F8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왜 전략물자인가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822960" y="3931920"/>
            <a:ext cx="296661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F4F8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2025년 116.9억$ → 2034년 224.9억$, 연평균 7.54% 성장</a:t>
            </a:r>
            <a:endParaRPr lang="en-US" sz="1250" dirty="0"/>
          </a:p>
          <a:p>
            <a:pPr algn="l" marL="177800" indent="-1778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F4F8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AI·HBM향 팹 증설 + 미세화로 사용량 구조적 증가</a:t>
            </a:r>
            <a:endParaRPr lang="en-US" sz="1250" dirty="0"/>
          </a:p>
          <a:p>
            <a:pPr algn="l" marL="177800" indent="-1778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F4F8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최근 몇 년간, 거의 매년 지정학적 공급망 이슈 발생</a:t>
            </a:r>
            <a:endParaRPr lang="en-US" sz="1250" dirty="0"/>
          </a:p>
          <a:p>
            <a:pPr algn="l" marL="177800" indent="-1778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F4F8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특정국 의존도를 낮추는 다변화·국산화가 핵심 과제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4338218" y="3063240"/>
            <a:ext cx="3515258" cy="3246120"/>
          </a:xfrm>
          <a:prstGeom prst="roundRect">
            <a:avLst>
              <a:gd name="adj" fmla="val 2254"/>
            </a:avLst>
          </a:prstGeom>
          <a:solidFill>
            <a:srgbClr val="133E63"/>
          </a:solidFill>
          <a:ln/>
          <a:effectLst>
            <a:outerShdw sx="100000" sy="100000" kx="0" ky="0" algn="bl" rotWithShape="0" blurRad="76200" dist="38100" dir="5400000">
              <a:srgbClr val="000000">
                <a:alpha val="3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4594250" y="3319272"/>
            <a:ext cx="384048" cy="384048"/>
          </a:xfrm>
          <a:prstGeom prst="ellipse">
            <a:avLst/>
          </a:prstGeom>
          <a:solidFill>
            <a:srgbClr val="5FD3F3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594250" y="3319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3D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39" name="Text 37"/>
          <p:cNvSpPr txBox="1"/>
          <p:nvPr/>
        </p:nvSpPr>
        <p:spPr>
          <a:xfrm>
            <a:off x="5088026" y="3300984"/>
            <a:ext cx="26008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4F8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가스란 무엇인가</a:t>
            </a:r>
            <a:endParaRPr lang="en-US" sz="1600" dirty="0"/>
          </a:p>
        </p:txBody>
      </p:sp>
      <p:sp>
        <p:nvSpPr>
          <p:cNvPr id="40" name="Text 38"/>
          <p:cNvSpPr txBox="1"/>
          <p:nvPr/>
        </p:nvSpPr>
        <p:spPr>
          <a:xfrm>
            <a:off x="4612538" y="3931920"/>
            <a:ext cx="296661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F4F8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“그릇에 담을 수 없는, 자유로운 물질”</a:t>
            </a:r>
            <a:endParaRPr lang="en-US" sz="1250" dirty="0"/>
          </a:p>
          <a:p>
            <a:pPr algn="l" marL="177800" indent="-1778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F4F8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Gas(원래 기체) vs Vapor(증발해서 기체가 된 것)</a:t>
            </a:r>
            <a:endParaRPr lang="en-US" sz="1250" dirty="0"/>
          </a:p>
          <a:p>
            <a:pPr algn="l" marL="177800" indent="-1778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F4F8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압축가스: 압력계 = 잔량계 / 액화가스: 무게(중량법) 관리</a:t>
            </a:r>
            <a:endParaRPr lang="en-US" sz="1250" dirty="0"/>
          </a:p>
          <a:p>
            <a:pPr algn="l" marL="177800" indent="-1778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F4F8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분류 기준 6가지 — 압력·규모·혼합·상태·성질·공정접촉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8127797" y="3063240"/>
            <a:ext cx="3515258" cy="3246120"/>
          </a:xfrm>
          <a:prstGeom prst="roundRect">
            <a:avLst>
              <a:gd name="adj" fmla="val 2254"/>
            </a:avLst>
          </a:prstGeom>
          <a:solidFill>
            <a:srgbClr val="133E63"/>
          </a:solidFill>
          <a:ln/>
          <a:effectLst>
            <a:outerShdw sx="100000" sy="100000" kx="0" ky="0" algn="bl" rotWithShape="0" blurRad="76200" dist="38100" dir="5400000">
              <a:srgbClr val="000000">
                <a:alpha val="35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8383829" y="3319272"/>
            <a:ext cx="384048" cy="384048"/>
          </a:xfrm>
          <a:prstGeom prst="ellipse">
            <a:avLst/>
          </a:prstGeom>
          <a:solidFill>
            <a:srgbClr val="5FD3F3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8383829" y="3319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3D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44" name="Text 42"/>
          <p:cNvSpPr txBox="1"/>
          <p:nvPr/>
        </p:nvSpPr>
        <p:spPr>
          <a:xfrm>
            <a:off x="8877605" y="3300984"/>
            <a:ext cx="26008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4F8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어떻게 관리하는가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8402117" y="3931920"/>
            <a:ext cx="296661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F4F8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제조 흐름: 합성 → 정제 → 충전/믹싱 → 분석 → 출하</a:t>
            </a:r>
            <a:endParaRPr lang="en-US" sz="1250" dirty="0"/>
          </a:p>
          <a:p>
            <a:pPr algn="l" marL="177800" indent="-1778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F4F8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불순물 3대 분류 — Air · Metal · 수분</a:t>
            </a:r>
            <a:endParaRPr lang="en-US" sz="1250" dirty="0"/>
          </a:p>
          <a:p>
            <a:pPr algn="l" marL="177800" indent="-1778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F4F8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GC·ICP-MS·CRDS로 ppb~ppt 수준까지 관리</a:t>
            </a:r>
            <a:endParaRPr lang="en-US" sz="1250" dirty="0"/>
          </a:p>
          <a:p>
            <a:pPr algn="l" marL="177800" indent="-1778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F4F8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공급: 특수가스(캐비닛→VMB) / 벌크가스(ASU→단지공급)</a:t>
            </a:r>
            <a:endParaRPr lang="en-US" sz="1250" dirty="0"/>
          </a:p>
        </p:txBody>
      </p:sp>
      <p:sp>
        <p:nvSpPr>
          <p:cNvPr id="46" name="Text 44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9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출처: Precedence Research · USGS Mineral Commodity Summaries · 사내 교육자료(0부~4부) 종합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2026-09-16T12:28:18Z</dcterms:created>
  <dcterms:modified xsi:type="dcterms:W3CDTF">2026-09-16T12:28:18Z</dcterms:modified>
</cp:coreProperties>
</file>