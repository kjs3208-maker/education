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2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반도체 </a:t>
            </a:r>
            <a:pPr indent="0" marL="0">
              <a:buNone/>
            </a:pPr>
            <a:r>
              <a:rPr lang="en-US" sz="3400" b="1" dirty="0">
                <a:solidFill>
                  <a:srgbClr val="5FD3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보이지 않지만 무기가 되다 — 정의부터 제조·분석·공급까지, 한 장으로 보는 전체 흐름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51215" y="292608"/>
            <a:ext cx="3291840" cy="1261872"/>
          </a:xfrm>
          <a:prstGeom prst="roundRect">
            <a:avLst>
              <a:gd name="adj" fmla="val 652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5" name="Image 0" descr="/tmp/claude-0/-home-user-education/1a4dac63-0322-5893-ae55-dbf45817515a/scratchpad/pptx_onepager/icon_card_mar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383" y="4937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037015" y="457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2034년 시장 전망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52383" y="749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D3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224.9</a:t>
            </a:r>
            <a:pPr algn="l" indent="0" marL="0">
              <a:buNone/>
            </a:pPr>
            <a:r>
              <a:rPr lang="en-US" sz="1600" b="1" dirty="0">
                <a:solidFill>
                  <a:srgbClr val="5FD3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억$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552383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연평균 7.54% 성장 (2025→2034)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42850" y="2112264"/>
            <a:ext cx="981412" cy="0"/>
          </a:xfrm>
          <a:prstGeom prst="line">
            <a:avLst/>
          </a:prstGeom>
          <a:noFill/>
          <a:ln w="19050">
            <a:solidFill>
              <a:srgbClr val="5FD3F3">
                <a:alpha val="6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9346" y="1810512"/>
            <a:ext cx="603504" cy="6035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5FD3F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/tmp/claude-0/-home-user-education/1a4dac63-0322-5893-ae55-dbf45817515a/scratchpad/pptx_onepager/icon_step_mater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650" y="195681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03938" y="1682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94360" y="2505456"/>
            <a:ext cx="14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원료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27767" y="2112264"/>
            <a:ext cx="981412" cy="0"/>
          </a:xfrm>
          <a:prstGeom prst="line">
            <a:avLst/>
          </a:prstGeom>
          <a:noFill/>
          <a:ln w="19050">
            <a:solidFill>
              <a:srgbClr val="5FD3F3">
                <a:alpha val="6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24263" y="1810512"/>
            <a:ext cx="603504" cy="6035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5FD3F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/tmp/claude-0/-home-user-education/1a4dac63-0322-5893-ae55-dbf45817515a/scratchpad/pptx_onepager/icon_step_synthesi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567" y="19568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788855" y="1682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2179276" y="2505456"/>
            <a:ext cx="14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12683" y="2112264"/>
            <a:ext cx="981412" cy="0"/>
          </a:xfrm>
          <a:prstGeom prst="line">
            <a:avLst/>
          </a:prstGeom>
          <a:noFill/>
          <a:ln w="19050">
            <a:solidFill>
              <a:srgbClr val="5FD3F3">
                <a:alpha val="65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209179" y="1810512"/>
            <a:ext cx="603504" cy="6035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5FD3F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/tmp/claude-0/-home-user-education/1a4dac63-0322-5893-ae55-dbf45817515a/scratchpad/pptx_onepager/icon_step_purif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483" y="195681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373771" y="1682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3764193" y="2505456"/>
            <a:ext cx="14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397600" y="2112264"/>
            <a:ext cx="981412" cy="0"/>
          </a:xfrm>
          <a:prstGeom prst="line">
            <a:avLst/>
          </a:prstGeom>
          <a:noFill/>
          <a:ln w="19050">
            <a:solidFill>
              <a:srgbClr val="5FD3F3">
                <a:alpha val="65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794096" y="1810512"/>
            <a:ext cx="603504" cy="6035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5FD3F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4" descr="/tmp/claude-0/-home-user-education/1a4dac63-0322-5893-ae55-dbf45817515a/scratchpad/pptx_onepager/icon_step_fi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400" y="195681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58688" y="1682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5349109" y="2505456"/>
            <a:ext cx="14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충전/믹싱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82516" y="2112264"/>
            <a:ext cx="981412" cy="0"/>
          </a:xfrm>
          <a:prstGeom prst="line">
            <a:avLst/>
          </a:prstGeom>
          <a:noFill/>
          <a:ln w="19050">
            <a:solidFill>
              <a:srgbClr val="5FD3F3">
                <a:alpha val="65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379012" y="1810512"/>
            <a:ext cx="603504" cy="6035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5FD3F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pic>
        <p:nvPicPr>
          <p:cNvPr id="31" name="Image 5" descr="/tmp/claude-0/-home-user-education/1a4dac63-0322-5893-ae55-dbf45817515a/scratchpad/pptx_onepager/icon_step_analysi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316" y="195681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543604" y="1682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6934026" y="2505456"/>
            <a:ext cx="14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9567433" y="2112264"/>
            <a:ext cx="981412" cy="0"/>
          </a:xfrm>
          <a:prstGeom prst="line">
            <a:avLst/>
          </a:prstGeom>
          <a:noFill/>
          <a:ln w="19050">
            <a:solidFill>
              <a:srgbClr val="5FD3F3">
                <a:alpha val="6500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963929" y="1810512"/>
            <a:ext cx="603504" cy="603504"/>
          </a:xfrm>
          <a:prstGeom prst="ellipse">
            <a:avLst/>
          </a:prstGeom>
          <a:solidFill>
            <a:srgbClr val="1C7293"/>
          </a:solidFill>
          <a:ln w="9525">
            <a:solidFill>
              <a:srgbClr val="5FD3F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6" descr="/tmp/claude-0/-home-user-education/1a4dac63-0322-5893-ae55-dbf45817515a/scratchpad/pptx_onepager/icon_step_suppl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0233" y="1956816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128521" y="1682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518942" y="2505456"/>
            <a:ext cx="14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10548845" y="1810512"/>
            <a:ext cx="603504" cy="603504"/>
          </a:xfrm>
          <a:prstGeom prst="ellipse">
            <a:avLst/>
          </a:prstGeom>
          <a:solidFill>
            <a:srgbClr val="5FD3F3"/>
          </a:solidFill>
          <a:ln w="19050">
            <a:solidFill>
              <a:srgbClr val="F4F8F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pic>
        <p:nvPicPr>
          <p:cNvPr id="40" name="Image 7" descr="/tmp/claude-0/-home-user-education/1a4dac63-0322-5893-ae55-dbf45817515a/scratchpad/pptx_onepager/icon_step_proces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5149" y="1956816"/>
            <a:ext cx="310896" cy="31089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713437" y="1682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10103859" y="2505456"/>
            <a:ext cx="14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548640" y="3090672"/>
            <a:ext cx="3515258" cy="3273552"/>
          </a:xfrm>
          <a:prstGeom prst="roundRect">
            <a:avLst>
              <a:gd name="adj" fmla="val 2514"/>
            </a:avLst>
          </a:prstGeom>
          <a:solidFill>
            <a:srgbClr val="0F4468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804672" y="3346704"/>
            <a:ext cx="457200" cy="457200"/>
          </a:xfrm>
          <a:prstGeom prst="ellipse">
            <a:avLst/>
          </a:prstGeom>
          <a:solidFill>
            <a:srgbClr val="5FD3F3"/>
          </a:solidFill>
          <a:ln/>
          <a:effectLst>
            <a:outerShdw sx="100000" sy="100000" kx="0" ky="0" algn="bl" rotWithShape="0" blurRad="50800" dist="25400" dir="5400000">
              <a:srgbClr val="000000">
                <a:alpha val="30000"/>
              </a:srgbClr>
            </a:outerShdw>
          </a:effectLst>
        </p:spPr>
      </p:sp>
      <p:pic>
        <p:nvPicPr>
          <p:cNvPr id="45" name="Image 8" descr="/tmp/claude-0/-home-user-education/1a4dac63-0322-5893-ae55-dbf45817515a/scratchpad/pptx_onepager/icon_card_mark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" y="3447288"/>
            <a:ext cx="256032" cy="25603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389888" y="3328416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전략물자인가</a:t>
            </a:r>
            <a:endParaRPr lang="en-US" sz="1650" dirty="0"/>
          </a:p>
        </p:txBody>
      </p:sp>
      <p:sp>
        <p:nvSpPr>
          <p:cNvPr id="47" name="Text 36"/>
          <p:cNvSpPr txBox="1"/>
          <p:nvPr/>
        </p:nvSpPr>
        <p:spPr>
          <a:xfrm>
            <a:off x="822960" y="4005072"/>
            <a:ext cx="296661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AI·HBM향 팹 증설 + 미세화로 사용량 구조적 증가</a:t>
            </a:r>
            <a:endParaRPr lang="en-US" sz="1200" dirty="0"/>
          </a:p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몇 년간, 거의 매년 지정학적 공급망 이슈 발생</a:t>
            </a:r>
            <a:endParaRPr lang="en-US" sz="1200" dirty="0"/>
          </a:p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특정국 의존도를 낮추는 다변화·국산화가 핵심 과제</a:t>
            </a:r>
            <a:endParaRPr lang="en-US" sz="1200" dirty="0"/>
          </a:p>
        </p:txBody>
      </p:sp>
      <p:sp>
        <p:nvSpPr>
          <p:cNvPr id="48" name="Shape 37"/>
          <p:cNvSpPr/>
          <p:nvPr/>
        </p:nvSpPr>
        <p:spPr>
          <a:xfrm>
            <a:off x="4338218" y="3090672"/>
            <a:ext cx="3515258" cy="3273552"/>
          </a:xfrm>
          <a:prstGeom prst="roundRect">
            <a:avLst>
              <a:gd name="adj" fmla="val 2514"/>
            </a:avLst>
          </a:prstGeom>
          <a:solidFill>
            <a:srgbClr val="0F4468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4594250" y="3346704"/>
            <a:ext cx="457200" cy="457200"/>
          </a:xfrm>
          <a:prstGeom prst="ellipse">
            <a:avLst/>
          </a:prstGeom>
          <a:solidFill>
            <a:srgbClr val="5FD3F3"/>
          </a:solidFill>
          <a:ln/>
          <a:effectLst>
            <a:outerShdw sx="100000" sy="100000" kx="0" ky="0" algn="bl" rotWithShape="0" blurRad="50800" dist="25400" dir="5400000">
              <a:srgbClr val="000000">
                <a:alpha val="30000"/>
              </a:srgbClr>
            </a:outerShdw>
          </a:effectLst>
        </p:spPr>
      </p:sp>
      <p:pic>
        <p:nvPicPr>
          <p:cNvPr id="50" name="Image 9" descr="/tmp/claude-0/-home-user-education/1a4dac63-0322-5893-ae55-dbf45817515a/scratchpad/pptx_onepager/icon_card_ato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4834" y="3447288"/>
            <a:ext cx="256032" cy="256032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5179466" y="3328416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가스란 무엇인가</a:t>
            </a:r>
            <a:endParaRPr lang="en-US" sz="1650" dirty="0"/>
          </a:p>
        </p:txBody>
      </p:sp>
      <p:sp>
        <p:nvSpPr>
          <p:cNvPr id="52" name="Text 40"/>
          <p:cNvSpPr txBox="1"/>
          <p:nvPr/>
        </p:nvSpPr>
        <p:spPr>
          <a:xfrm>
            <a:off x="4612538" y="4005072"/>
            <a:ext cx="296661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“그릇에 담을 수 없는, 자유로운 물질”</a:t>
            </a:r>
            <a:endParaRPr lang="en-US" sz="1200" dirty="0"/>
          </a:p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Gas(원래 기체) vs Vapor(증발해서 기체가 된 것)</a:t>
            </a:r>
            <a:endParaRPr lang="en-US" sz="1200" dirty="0"/>
          </a:p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압축가스: 압력계 = 잔량계 / 액화가스: 무게(중량법) 관리</a:t>
            </a:r>
            <a:endParaRPr lang="en-US" sz="1200" dirty="0"/>
          </a:p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기준 6가지 — 압력·규모·혼합·상태·성질·공정접촉</a:t>
            </a:r>
            <a:endParaRPr lang="en-US" sz="1200" dirty="0"/>
          </a:p>
        </p:txBody>
      </p:sp>
      <p:sp>
        <p:nvSpPr>
          <p:cNvPr id="53" name="Shape 41"/>
          <p:cNvSpPr/>
          <p:nvPr/>
        </p:nvSpPr>
        <p:spPr>
          <a:xfrm>
            <a:off x="8127797" y="3090672"/>
            <a:ext cx="3515258" cy="3273552"/>
          </a:xfrm>
          <a:prstGeom prst="roundRect">
            <a:avLst>
              <a:gd name="adj" fmla="val 2514"/>
            </a:avLst>
          </a:prstGeom>
          <a:solidFill>
            <a:srgbClr val="0F4468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Shape 42"/>
          <p:cNvSpPr/>
          <p:nvPr/>
        </p:nvSpPr>
        <p:spPr>
          <a:xfrm>
            <a:off x="8383829" y="3346704"/>
            <a:ext cx="457200" cy="457200"/>
          </a:xfrm>
          <a:prstGeom prst="ellipse">
            <a:avLst/>
          </a:prstGeom>
          <a:solidFill>
            <a:srgbClr val="5FD3F3"/>
          </a:solidFill>
          <a:ln/>
          <a:effectLst>
            <a:outerShdw sx="100000" sy="100000" kx="0" ky="0" algn="bl" rotWithShape="0" blurRad="50800" dist="25400" dir="5400000">
              <a:srgbClr val="000000">
                <a:alpha val="30000"/>
              </a:srgbClr>
            </a:outerShdw>
          </a:effectLst>
        </p:spPr>
      </p:sp>
      <p:pic>
        <p:nvPicPr>
          <p:cNvPr id="55" name="Image 10" descr="/tmp/claude-0/-home-user-education/1a4dac63-0322-5893-ae55-dbf45817515a/scratchpad/pptx_onepager/icon_card_shie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4413" y="3447288"/>
            <a:ext cx="256032" cy="256032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8969045" y="3328416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어떻게 관리하는가</a:t>
            </a:r>
            <a:endParaRPr lang="en-US" sz="1650" dirty="0"/>
          </a:p>
        </p:txBody>
      </p:sp>
      <p:sp>
        <p:nvSpPr>
          <p:cNvPr id="57" name="Text 44"/>
          <p:cNvSpPr txBox="1"/>
          <p:nvPr/>
        </p:nvSpPr>
        <p:spPr>
          <a:xfrm>
            <a:off x="8402117" y="4005072"/>
            <a:ext cx="296661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흐름: 합성 → 정제 → 충전/믹싱 → 분석 → 출하</a:t>
            </a:r>
            <a:endParaRPr lang="en-US" sz="1200" dirty="0"/>
          </a:p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불순물 3대 분류 — Air · Metal · 수분</a:t>
            </a:r>
            <a:endParaRPr lang="en-US" sz="1200" dirty="0"/>
          </a:p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GC·ICP-MS·CRDS로 ppb~ppt 수준까지 관리</a:t>
            </a:r>
            <a:endParaRPr lang="en-US" sz="1200" dirty="0"/>
          </a:p>
          <a:p>
            <a:pPr algn="l" marL="177800" indent="-177800">
              <a:lnSpc>
                <a:spcPct val="116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공급: 특수가스(캐비닛→VMB) / 벌크가스(ASU→단지공급)</a:t>
            </a:r>
            <a:endParaRPr lang="en-US" sz="1200" dirty="0"/>
          </a:p>
        </p:txBody>
      </p:sp>
      <p:sp>
        <p:nvSpPr>
          <p:cNvPr id="58" name="Text 45"/>
          <p:cNvSpPr txBox="1"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Precedence Research · USGS Mineral Commodity Summaries · 사내 교육자료(0부~4부) 종합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2026-09-16T12:36:45Z</dcterms:created>
  <dcterms:modified xsi:type="dcterms:W3CDTF">2026-09-16T12:36:45Z</dcterms:modified>
</cp:coreProperties>
</file>